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66AC"/>
                </a:solidFill>
                <a:latin typeface="Calibri"/>
              </a:rPr>
              <a:t>WEEKLY THESIS SUPERVISOR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41248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3200" b="1" i="0">
                <a:solidFill>
                  <a:srgbClr val="1B2A41"/>
                </a:solidFill>
                <a:latin typeface="Calibri"/>
              </a:rPr>
              <a:t>Independent Judge Validation of Contextual Privacy
Evaluation in LLM Unlearning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475569"/>
                </a:solidFill>
                <a:latin typeface="Calibri"/>
              </a:rPr>
              <a:t>Robustness check of PersistBench contextual-privacy results using an independent Gemma-3-12B judge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23160"/>
            <a:ext cx="1109167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5852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500" b="1">
                <a:solidFill>
                  <a:srgbClr val="2166AC"/>
                </a:solidFill>
                <a:latin typeface="Calibri"/>
              </a:rPr>
              <a:t>•  </a:t>
            </a:r>
            <a:r>
              <a:rPr sz="1500" b="1">
                <a:solidFill>
                  <a:srgbClr val="1B2A41"/>
                </a:solidFill>
                <a:latin typeface="Calibri"/>
              </a:rPr>
              <a:t>Motivation. </a:t>
            </a:r>
            <a:r>
              <a:rPr sz="1500" b="0">
                <a:solidFill>
                  <a:srgbClr val="1B2A41"/>
                </a:solidFill>
                <a:latin typeface="Calibri"/>
              </a:rPr>
              <a:t>PersistBench contextual-privacy results were evaluated with a Qwen2.5-7B-Instruct LLM judge.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166AC"/>
                </a:solidFill>
                <a:latin typeface="Calibri"/>
              </a:rPr>
              <a:t>•  </a:t>
            </a:r>
            <a:r>
              <a:rPr sz="1500" b="1">
                <a:solidFill>
                  <a:srgbClr val="1B2A41"/>
                </a:solidFill>
                <a:latin typeface="Calibri"/>
              </a:rPr>
              <a:t>Confound. </a:t>
            </a:r>
            <a:r>
              <a:rPr sz="1500" b="0">
                <a:solidFill>
                  <a:srgbClr val="1B2A41"/>
                </a:solidFill>
                <a:latin typeface="Calibri"/>
              </a:rPr>
              <a:t>Several evaluated unlearned checkpoints are themselves Qwen2.5-7B-Instruct-based — judge and subject share a model family.</a:t>
            </a:r>
          </a:p>
          <a:p>
            <a:pPr>
              <a:spcAft>
                <a:spcPts val="1400"/>
              </a:spcAft>
            </a:pPr>
            <a:r>
              <a:rPr sz="1500" b="1">
                <a:solidFill>
                  <a:srgbClr val="2166AC"/>
                </a:solidFill>
                <a:latin typeface="Calibri"/>
              </a:rPr>
              <a:t>•  </a:t>
            </a:r>
            <a:r>
              <a:rPr sz="1500" b="1">
                <a:solidFill>
                  <a:srgbClr val="1B2A41"/>
                </a:solidFill>
                <a:latin typeface="Calibri"/>
              </a:rPr>
              <a:t>Research question. </a:t>
            </a:r>
            <a:r>
              <a:rPr sz="1500" b="0">
                <a:solidFill>
                  <a:srgbClr val="1B2A41"/>
                </a:solidFill>
                <a:latin typeface="Calibri"/>
              </a:rPr>
              <a:t>Does the contextual privacy degradation signal under unlearning remain when scored by an independent judge?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0840" y="2788920"/>
            <a:ext cx="1828800" cy="685800"/>
          </a:xfrm>
          <a:prstGeom prst="roundRect">
            <a:avLst>
              <a:gd name="adj" fmla="val 18000"/>
            </a:avLst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Qwen-2.5-7B
judge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686800" y="2990088"/>
            <a:ext cx="502920" cy="292608"/>
          </a:xfrm>
          <a:prstGeom prst="rightArrow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326880" y="2788920"/>
            <a:ext cx="2148840" cy="685800"/>
          </a:xfrm>
          <a:prstGeom prst="roundRect">
            <a:avLst>
              <a:gd name="adj" fmla="val 1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1B2A41"/>
                </a:solidFill>
                <a:latin typeface="Calibri"/>
              </a:rPr>
              <a:t>Previous
evaluation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3840480"/>
            <a:ext cx="1828800" cy="685800"/>
          </a:xfrm>
          <a:prstGeom prst="roundRect">
            <a:avLst>
              <a:gd name="adj" fmla="val 18000"/>
            </a:avLst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Gemma-3-12B
judge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686800" y="4041648"/>
            <a:ext cx="502920" cy="292608"/>
          </a:xfrm>
          <a:prstGeom prst="rightArrow">
            <a:avLst/>
          </a:prstGeom>
          <a:solidFill>
            <a:srgbClr val="8A93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326880" y="3840480"/>
            <a:ext cx="2148840" cy="685800"/>
          </a:xfrm>
          <a:prstGeom prst="roundRect">
            <a:avLst>
              <a:gd name="adj" fmla="val 1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/>
          <a:lstStyle/>
          <a:p>
            <a:pPr algn="ctr"/>
            <a:r>
              <a:rPr sz="1250" b="1">
                <a:solidFill>
                  <a:srgbClr val="1B2A41"/>
                </a:solidFill>
                <a:latin typeface="Calibri"/>
              </a:rPr>
              <a:t>Robustness
validation (new)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5029200"/>
            <a:ext cx="47548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475569"/>
                </a:solidFill>
                <a:latin typeface="Calibri"/>
              </a:rPr>
              <a:t>Same stored model generations, scored by a model outside the Qwen family.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Experimental setup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566928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50" b="1">
                <a:solidFill>
                  <a:srgbClr val="2166AC"/>
                </a:solidFill>
                <a:latin typeface="Calibri"/>
              </a:rPr>
              <a:t>•  </a:t>
            </a:r>
            <a:r>
              <a:rPr sz="1350" b="1">
                <a:solidFill>
                  <a:srgbClr val="1B2A41"/>
                </a:solidFill>
                <a:latin typeface="Calibri"/>
              </a:rPr>
              <a:t>Judge model: </a:t>
            </a:r>
            <a:r>
              <a:rPr sz="1350" b="0">
                <a:solidFill>
                  <a:srgbClr val="1B2A41"/>
                </a:solidFill>
                <a:latin typeface="Calibri"/>
              </a:rPr>
              <a:t>google/gemma-3-12b-it (Gemma3ForConditionalGeneration, bfloat16)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2166AC"/>
                </a:solidFill>
                <a:latin typeface="Calibri"/>
              </a:rPr>
              <a:t>•  </a:t>
            </a:r>
            <a:r>
              <a:rPr sz="1350" b="1">
                <a:solidFill>
                  <a:srgbClr val="1B2A41"/>
                </a:solidFill>
                <a:latin typeface="Calibri"/>
              </a:rPr>
              <a:t>Design: </a:t>
            </a:r>
            <a:r>
              <a:rPr sz="1350" b="0">
                <a:solidFill>
                  <a:srgbClr val="1B2A41"/>
                </a:solidFill>
                <a:latin typeface="Calibri"/>
              </a:rPr>
              <a:t>identical stored PersistBench model generations, re-scored by Gemma — no regeneration, no change to the evaluated models.</a:t>
            </a:r>
          </a:p>
          <a:p>
            <a:pPr>
              <a:spcAft>
                <a:spcPts val="1000"/>
              </a:spcAft>
            </a:pPr>
            <a:r>
              <a:rPr sz="1350" b="1">
                <a:solidFill>
                  <a:srgbClr val="2166AC"/>
                </a:solidFill>
                <a:latin typeface="Calibri"/>
              </a:rPr>
              <a:t>•  </a:t>
            </a:r>
            <a:r>
              <a:rPr sz="1350" b="1">
                <a:solidFill>
                  <a:srgbClr val="1B2A41"/>
                </a:solidFill>
                <a:latin typeface="Calibri"/>
              </a:rPr>
              <a:t>Verified identical: </a:t>
            </a:r>
            <a:r>
              <a:rPr sz="1350" b="0">
                <a:solidFill>
                  <a:srgbClr val="1B2A41"/>
                </a:solidFill>
                <a:latin typeface="Calibri"/>
              </a:rPr>
              <a:t>19,500 / 19,500 response pairs byte-identical to the frozen Qwen-era files, 0 mismatches (see next slide).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3200400"/>
          <a:ext cx="694944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80560"/>
                <a:gridCol w="2468880"/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Verification item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Judgment requests (15 result files)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19,500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Maximum prompt length observed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9,249 tokens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Required context (prompt + 256-token output)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9,505 tokens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Server maximum model length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16,384 tokens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Truncation occurred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No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Request errors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Unparseable judge outputs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0 (self-repair: 1,500 / 1,500 succeeded)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2926080"/>
            <a:ext cx="6949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B2A41"/>
                </a:solidFill>
                <a:latin typeface="Calibri"/>
              </a:rPr>
              <a:t>Methodology verification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1417320"/>
            <a:ext cx="3886200" cy="484632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rIns="203200" tIns="22860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Clean run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E7ECF3"/>
                </a:solidFill>
                <a:latin typeface="Calibri"/>
              </a:rPr>
              <a:t>No truncation, no failed requests, and no parsing failures across all 19,500 judgment calls.</a:t>
            </a:r>
          </a:p>
          <a:p>
            <a:pPr>
              <a:spcBef>
                <a:spcPts val="1600"/>
              </a:spcBef>
            </a:pPr>
            <a:r>
              <a:rPr sz="2600" b="1">
                <a:solidFill>
                  <a:srgbClr val="8EC3FF"/>
                </a:solidFill>
                <a:latin typeface="Calibri"/>
              </a:rPr>
              <a:t>9,505 / 16,384</a:t>
            </a:r>
          </a:p>
          <a:p>
            <a:r>
              <a:rPr sz="1250">
                <a:solidFill>
                  <a:srgbClr val="C7D3E3"/>
                </a:solidFill>
                <a:latin typeface="Calibri"/>
              </a:rPr>
              <a:t>tokens required vs. server max — 42% headroom</a:t>
            </a:r>
          </a:p>
          <a:p>
            <a:pPr>
              <a:spcBef>
                <a:spcPts val="1600"/>
              </a:spcBef>
            </a:pPr>
            <a:r>
              <a:rPr sz="1250" i="1">
                <a:solidFill>
                  <a:srgbClr val="E7ECF3"/>
                </a:solidFill>
                <a:latin typeface="Calibri"/>
              </a:rPr>
              <a:t>Gemma-3-12B is used here as an independent judge for robustness evaluation — not as ground truth.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INPUT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Generation quality verification before judge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475569"/>
                </a:solidFill>
                <a:latin typeface="Calibri"/>
              </a:rPr>
              <a:t>Reuses the project's existing PersistBench generation-validity classifier (predates the Gemma work) — no new methodology introduced for this check.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9164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1"/>
                </a:solidFill>
                <a:latin typeface="Calibri"/>
              </a:rPr>
              <a:t>What was checked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93392"/>
            <a:ext cx="56235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Classifier: </a:t>
            </a:r>
            <a:r>
              <a:rPr sz="1150" b="0">
                <a:solidFill>
                  <a:srgbClr val="1B2A41"/>
                </a:solidFill>
                <a:latin typeface="Calibri"/>
              </a:rPr>
              <a:t>response text -&gt; valid / empty / gibberish-degenerate / web-contaminated / tool-schema-output (repo-standard categories).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Degeneration rule inside it: </a:t>
            </a:r>
            <a:r>
              <a:rPr sz="1150" b="0">
                <a:solidFill>
                  <a:srgbClr val="1B2A41"/>
                </a:solidFill>
                <a:latin typeface="Calibri"/>
              </a:rPr>
              <a:t>flags a response if its most frequent word makes up &gt;30% of all words, or &lt;25% of characters are alphabetic (a repetition/collapse heuristic).</a:t>
            </a:r>
          </a:p>
          <a:p>
            <a:pPr>
              <a:spcAft>
                <a:spcPts val="6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Scope checked here: </a:t>
            </a:r>
            <a:r>
              <a:rPr sz="1150" b="0">
                <a:solidFill>
                  <a:srgbClr val="1B2A41"/>
                </a:solidFill>
                <a:latin typeface="Calibri"/>
              </a:rPr>
              <a:t>cross-domain, generation index 0 (matches this deck's FR@1 metric), all 15 Gemma-covered files, N=200/condition, 3,000 total.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840480"/>
            <a:ext cx="2697480" cy="9601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>
                <a:solidFill>
                  <a:srgbClr val="2166AC"/>
                </a:solidFill>
                <a:latin typeface="Calibri"/>
              </a:rPr>
              <a:t>93.1%</a:t>
            </a:r>
          </a:p>
          <a:p>
            <a:pPr algn="ctr"/>
            <a:r>
              <a:rPr sz="1100">
                <a:solidFill>
                  <a:srgbClr val="475569"/>
                </a:solidFill>
                <a:latin typeface="Calibri"/>
              </a:rPr>
              <a:t>overall valid (2,793 / 3,000)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3840480"/>
            <a:ext cx="2743200" cy="9601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/>
            <a:r>
              <a:rPr sz="2600" b="1">
                <a:solidFill>
                  <a:srgbClr val="C0392B"/>
                </a:solidFill>
                <a:latin typeface="Calibri"/>
              </a:rPr>
              <a:t>0.00%</a:t>
            </a:r>
          </a:p>
          <a:p>
            <a:pPr algn="ctr"/>
            <a:r>
              <a:rPr sz="1050">
                <a:solidFill>
                  <a:srgbClr val="475569"/>
                </a:solidFill>
                <a:latin typeface="Calibri"/>
              </a:rPr>
              <a:t>MUSE-Books/Llama-2/WGA valid (0/200)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92040"/>
            <a:ext cx="5623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475569"/>
                </a:solidFill>
                <a:latin typeface="Calibri"/>
              </a:rPr>
              <a:t>MUSE-News/Qwen2.5 and MUSE-Books/Qwen2.5: 100% valid, 0 invalid, in every one of the 10 BASE/RMU/WGA/SimNPO/SatImp conditions. All invalidity is concentrated in the MUSE-Books/Llama-2 track (RMU 1/200, SimNPO 5/200, SatImp 1/200, WGA 200/200 — all flagged “gibberish_or_generation_collapse”, e.g. repeated dash characters). Corroborated by 2 earlier, independent checks (2026-07-22 and 2026-08-15 reports), both predating the Gemma work.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691640"/>
            <a:ext cx="5257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1"/>
                </a:solidFill>
                <a:latin typeface="Calibri"/>
              </a:rPr>
              <a:t>Qwen vs. Gemma: same evaluation inputs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400800" y="2011680"/>
          <a:ext cx="52578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554480"/>
                <a:gridCol w="155448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Qwen evaluation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Gemma evaluation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1B2A41"/>
                          </a:solidFill>
                          <a:latin typeface="Calibri"/>
                        </a:rPr>
                        <a:t>Stored generation files scored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15 (identical files)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1B2A41"/>
                          </a:solidFill>
                          <a:latin typeface="Calibri"/>
                        </a:rPr>
                        <a:t>Response pairs confirmed identical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19,500 / 19,500 (0 mismatches)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1B2A41"/>
                          </a:solidFill>
                          <a:latin typeface="Calibri"/>
                        </a:rPr>
                        <a:t>Valid generations (cross-domain gen 0, N=3,000)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2,793 (93.1%)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2,793 (93.1%) — identical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1B2A41"/>
                          </a:solidFill>
                          <a:latin typeface="Calibri"/>
                        </a:rPr>
                        <a:t>Pre-judge content-quality filtering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None (skip only if response missing)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None (skip only if response missing)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b="1" sz="1000">
                          <a:solidFill>
                            <a:srgbClr val="1B2A41"/>
                          </a:solidFill>
                          <a:latin typeface="Calibri"/>
                        </a:rPr>
                        <a:t>Generation collapse present in input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MUSE-Books/Llama-2/WGA: 200/200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000">
                          <a:solidFill>
                            <a:srgbClr val="1B2A41"/>
                          </a:solidFill>
                          <a:latin typeface="Calibri"/>
                        </a:rPr>
                        <a:t>same file — 200/200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502920" y="6108192"/>
            <a:ext cx="11155680" cy="365760"/>
          </a:xfrm>
          <a:prstGeom prst="roundRect">
            <a:avLst>
              <a:gd name="adj" fmla="val 30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/>
          <a:lstStyle/>
          <a:p>
            <a:pPr algn="ctr"/>
            <a:r>
              <a:rPr sz="1250" b="1" i="1">
                <a:solidFill>
                  <a:srgbClr val="FFFFFF"/>
                </a:solidFill>
                <a:latin typeface="Calibri"/>
              </a:rPr>
              <a:t>The robustness experiment changes only the evaluator, not the generated outputs.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17720"/>
            <a:ext cx="5257800" cy="132588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/>
            <a:r>
              <a:rPr sz="1050" b="1">
                <a:solidFill>
                  <a:srgbClr val="1B2A41"/>
                </a:solidFill>
                <a:latin typeface="Calibri"/>
              </a:rPr>
              <a:t>Not found in the repository: </a:t>
            </a:r>
            <a:r>
              <a:rPr sz="1050">
                <a:solidFill>
                  <a:srgbClr val="475569"/>
                </a:solidFill>
                <a:latin typeface="Calibri"/>
              </a:rPr>
              <a:t>a dedicated duplicate-generation / uniqueness / self-repetition-rate statistic. The only available check is the text-degeneration classifier above — we do not claim a duplicate rate that was not measured.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MAIN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Contextual privacy degradation under Gemma-3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4</a:t>
            </a:r>
          </a:p>
        </p:txBody>
      </p:sp>
      <p:pic>
        <p:nvPicPr>
          <p:cNvPr id="9" name="Picture 8" descr="gemma_valid_only_before_af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08437"/>
            <a:ext cx="7726679" cy="2943845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366760" y="1325880"/>
            <a:ext cx="333756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3200" b="1">
                <a:solidFill>
                  <a:srgbClr val="C0392B"/>
                </a:solidFill>
                <a:latin typeface="Calibri"/>
              </a:rPr>
              <a:t>9 / 11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evaluable comparisons WORSEN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66760" y="2487168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2400" b="1">
                <a:solidFill>
                  <a:srgbClr val="1E8E5A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comparison improves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3282696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2400" b="1">
                <a:solidFill>
                  <a:srgbClr val="8A939E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comparison unchanged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4078224"/>
            <a:ext cx="3337560" cy="6858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2400" b="1">
                <a:solidFill>
                  <a:srgbClr val="C0392B"/>
                </a:solidFill>
                <a:latin typeface="Calibri"/>
              </a:rPr>
              <a:t>1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excluded — not evaluable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92040"/>
            <a:ext cx="3337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B2A41"/>
                </a:solidFill>
                <a:latin typeface="Calibri"/>
              </a:rPr>
              <a:t>Takeaway: after generation-quality filtering, Gemma independently reproduces the contextual privacy degradation signal.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526280"/>
            <a:ext cx="7726679" cy="960120"/>
          </a:xfrm>
          <a:prstGeom prst="roundRect">
            <a:avLst>
              <a:gd name="adj" fmla="val 10000"/>
            </a:avLst>
          </a:prstGeom>
          <a:solidFill>
            <a:srgbClr val="F4F6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/>
            <a:r>
              <a:rPr sz="1200" b="1">
                <a:solidFill>
                  <a:srgbClr val="1B2A41"/>
                </a:solidFill>
                <a:latin typeface="Calibri"/>
              </a:rPr>
              <a:t>One apparent improvement excluded. </a:t>
            </a:r>
            <a:r>
              <a:rPr sz="1200">
                <a:solidFill>
                  <a:srgbClr val="1B2A41"/>
                </a:solidFill>
                <a:latin typeface="Calibri"/>
              </a:rPr>
              <a:t>MUSE-Books/Llama-2/WGA was excluded because all generations were invalid (0/200 valid), making FR@1 undefined — a measurement failure, not a privacy result.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77840"/>
            <a:ext cx="772667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1">
                <a:solidFill>
                  <a:srgbClr val="475569"/>
                </a:solidFill>
                <a:latin typeface="Calibri"/>
              </a:rPr>
              <a:t>Cross-domain FR@1, valid generations only (≥80% valid-generation gate applied to BASE and method). Original (unfiltered) headline was 9/12; see Slide 5 for the filtering methodology.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GENERATION-QUALITY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Generation-quality filtering removes one invalid comparison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5</a:t>
            </a:r>
          </a:p>
        </p:txBody>
      </p:sp>
      <p:pic>
        <p:nvPicPr>
          <p:cNvPr id="9" name="Picture 8" descr="gemma_valid_only_removed_c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01660"/>
            <a:ext cx="6949440" cy="24546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35240" y="14630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1" i="0">
                <a:solidFill>
                  <a:srgbClr val="1B2A41"/>
                </a:solidFill>
                <a:latin typeface="Calibri"/>
              </a:rPr>
              <a:t>How the filter works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7830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Reuses </a:t>
            </a:r>
            <a:r>
              <a:rPr sz="1150" b="0">
                <a:solidFill>
                  <a:srgbClr val="1B2A41"/>
                </a:solidFill>
                <a:latin typeface="Calibri"/>
              </a:rPr>
              <a:t>the project's existing validity classifier — no new methodology introduced.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Text-based and judge-independent: </a:t>
            </a:r>
            <a:r>
              <a:rPr sz="1150" b="0">
                <a:solidFill>
                  <a:srgbClr val="1B2A41"/>
                </a:solidFill>
                <a:latin typeface="Calibri"/>
              </a:rPr>
              <a:t>the same response text is classified identically regardless of which judge scored it.</a:t>
            </a:r>
          </a:p>
          <a:p>
            <a:pPr>
              <a:spcAft>
                <a:spcPts val="800"/>
              </a:spcAft>
            </a:pPr>
            <a:r>
              <a:rPr sz="1150" b="1">
                <a:solidFill>
                  <a:srgbClr val="2166AC"/>
                </a:solidFill>
                <a:latin typeface="Calibri"/>
              </a:rPr>
              <a:t>•  </a:t>
            </a:r>
            <a:r>
              <a:rPr sz="1150" b="1">
                <a:solidFill>
                  <a:srgbClr val="1B2A41"/>
                </a:solidFill>
                <a:latin typeface="Calibri"/>
              </a:rPr>
              <a:t>Removes: </a:t>
            </a:r>
            <a:r>
              <a:rPr sz="1150" b="0">
                <a:solidFill>
                  <a:srgbClr val="1B2A41"/>
                </a:solidFill>
                <a:latin typeface="Calibri"/>
              </a:rPr>
              <a:t>empty outputs, web/tool-schema contamination, and generation collapse (gibberish or repeated-token degeneration).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794760"/>
            <a:ext cx="4023360" cy="196596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52400" rIns="17780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Important result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7ECF3"/>
                </a:solidFill>
                <a:latin typeface="Calibri"/>
              </a:rPr>
              <a:t>10/12 comparisons change by ≤ 0.29 percentage points — the degradation signal is unchanged.</a:t>
            </a:r>
          </a:p>
          <a:p>
            <a:pPr>
              <a:spcBef>
                <a:spcPts val="800"/>
              </a:spcBef>
            </a:pPr>
            <a:r>
              <a:rPr sz="1200">
                <a:solidFill>
                  <a:srgbClr val="E7ECF3"/>
                </a:solidFill>
                <a:latin typeface="Calibri"/>
              </a:rPr>
              <a:t>Only MUSE-Books/Llama-2/WGA is removed — complete generation collapse (200/200 invalid), not a privacy effect.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623560"/>
            <a:ext cx="6949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475569"/>
                </a:solidFill>
                <a:latin typeface="Calibri"/>
              </a:rPr>
              <a:t>Invalid generations per condition, cross-domain, generation index 0. Source: gemma_valid_only_fr1_recompute.csv.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HETEROGENEITY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Variation across methods and tracks (valid-only)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6</a:t>
            </a:r>
          </a:p>
        </p:txBody>
      </p:sp>
      <p:pic>
        <p:nvPicPr>
          <p:cNvPr id="9" name="Picture 8" descr="gemma_method_consist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57373"/>
            <a:ext cx="6126480" cy="3851813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903720" y="1508760"/>
          <a:ext cx="47548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34440"/>
                <a:gridCol w="141732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News/Qwen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Books/Llama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Books/Qwen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RMU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SimNPO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WGA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N/A — not evaluable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SatImp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worse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better (−2.21 pp)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1B2A41"/>
                          </a:solidFill>
                          <a:latin typeface="Calibri"/>
                        </a:rPr>
                        <a:t>same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903720" y="36576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475569"/>
                </a:solidFill>
                <a:latin typeface="Calibri"/>
              </a:rPr>
              <a:t>Valid-only direction per track (11 evaluable BASE→method comparisons)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4069080"/>
            <a:ext cx="4754880" cy="2148840"/>
          </a:xfrm>
          <a:prstGeom prst="roundRect">
            <a:avLst>
              <a:gd name="adj" fmla="val 6000"/>
            </a:avLst>
          </a:prstGeom>
          <a:solidFill>
            <a:srgbClr val="F4F6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/>
          <a:lstStyle/>
          <a:p>
            <a:pPr algn="ctr"/>
            <a:r>
              <a:rPr sz="1300" b="1">
                <a:solidFill>
                  <a:srgbClr val="1B2A41"/>
                </a:solidFill>
                <a:latin typeface="Calibri"/>
              </a:rPr>
              <a:t>The previous WGA/Llama-2 “improvement” is removed</a:t>
            </a:r>
          </a:p>
          <a:p>
            <a:pPr>
              <a:spcBef>
                <a:spcPts val="700"/>
              </a:spcBef>
            </a:pPr>
            <a:r>
              <a:rPr sz="1200">
                <a:solidFill>
                  <a:srgbClr val="1B2A41"/>
                </a:solidFill>
                <a:latin typeface="Calibri"/>
              </a:rPr>
              <a:t>MUSE-Books / Llama-2-7B / WGA: raw FR@1 61.0% → 28.5% </a:t>
            </a:r>
            <a:r>
              <a:rPr sz="1200" b="1">
                <a:solidFill>
                  <a:srgbClr val="8A939E"/>
                </a:solidFill>
                <a:latin typeface="Calibri"/>
              </a:rPr>
              <a:t>(−32.5 pp, unfiltered)</a:t>
            </a:r>
          </a:p>
          <a:p>
            <a:pPr>
              <a:spcBef>
                <a:spcPts val="600"/>
              </a:spcBef>
            </a:pPr>
            <a:r>
              <a:rPr sz="1100" i="1">
                <a:solidFill>
                  <a:srgbClr val="475569"/>
                </a:solidFill>
                <a:latin typeface="Calibri"/>
              </a:rPr>
              <a:t>The previous −32.5 pp “improvement” was caused by generation collapse, not improved privacy: 200/200 of WGA's cross-domain outputs are degenerate (repeated dash characters), 0.00% valid. This condition is excluded, not counted as an improvement.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Exact cross-domain results (FR@1, %) — original (unfiltered)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325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475569"/>
                </a:solidFill>
                <a:latin typeface="Calibri"/>
              </a:rPr>
              <a:t>Failure rate = % of entries where the top generation is judged unsafe (score ≥ 3); N = 200 per cell.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74519"/>
          <a:ext cx="1115568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3280"/>
                <a:gridCol w="1554480"/>
                <a:gridCol w="1554480"/>
                <a:gridCol w="1554480"/>
                <a:gridCol w="1554480"/>
                <a:gridCol w="1554480"/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Dataset / model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BASE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RMU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WGA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SimNPO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FFFFFF"/>
                          </a:solidFill>
                          <a:latin typeface="Calibri"/>
                        </a:rPr>
                        <a:t>SatImp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MUSE-News / Qwen2.5-7B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>
                          <a:solidFill>
                            <a:srgbClr val="1B2A41"/>
                          </a:solidFill>
                          <a:latin typeface="Calibri"/>
                        </a:rPr>
                        <a:t>29.0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35.5 (+6.5)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33.5 (+4.5)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35.0 (+6.0)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35.5 (+6.5)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MUSE-Books / Llama-2-7B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>
                          <a:solidFill>
                            <a:srgbClr val="1B2A41"/>
                          </a:solidFill>
                          <a:latin typeface="Calibri"/>
                        </a:rPr>
                        <a:t>61.0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80.0 (+19.0)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28.5 (−32.5) ‡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70.0 (+9.0)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58.5 (−2.5)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MUSE-Books / Qwen2.5-7B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300">
                          <a:solidFill>
                            <a:srgbClr val="1B2A41"/>
                          </a:solidFill>
                          <a:latin typeface="Calibri"/>
                        </a:rPr>
                        <a:t>30.0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43.0 (+13.0)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32.0 (+2.0)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34.0 (+4.0)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300">
                          <a:solidFill>
                            <a:srgbClr val="1B2A41"/>
                          </a:solidFill>
                          <a:latin typeface="Calibri"/>
                        </a:rPr>
                        <a:t>30.0 (+0.0)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160520"/>
            <a:ext cx="201168" cy="20116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13308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worse than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4160520"/>
            <a:ext cx="201168" cy="201168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413308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475569"/>
                </a:solidFill>
                <a:latin typeface="Calibri"/>
              </a:rPr>
              <a:t>better than or equal to 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45312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 i="1">
                <a:solidFill>
                  <a:srgbClr val="C0392B"/>
                </a:solidFill>
                <a:latin typeface="Calibri"/>
              </a:rPr>
              <a:t>‡ MUSE-Books/Llama-2/WGA: 0.00% valid (200/200 generation collapse) — excluded, not a privacy improvement. Valid-only recomputation: Slide 4; filtering methodology: Slide 5.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4892040"/>
            <a:ext cx="11155680" cy="1280160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3200" tIns="127000" rIns="203200"/>
          <a:lstStyle/>
          <a:p>
            <a:pPr algn="ctr"/>
            <a:r>
              <a:rPr sz="1300" b="1">
                <a:solidFill>
                  <a:srgbClr val="1B2A41"/>
                </a:solidFill>
                <a:latin typeface="Calibri"/>
              </a:rPr>
              <a:t>Uncertainty (secondary, exploratory)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McNemar exact tests (paired, per comparison) are significant for MUSE-Books/Llama-2 RMU (p = 8e-6), WGA (p ≈ 0), SimNPO (p = 0.047), and MUSE-Books/Qwen2.5 RMU (p = 0.0019); other comparisons are not significant at α = 0.05. Not adjusted for multiple comparisons across the 12 tests.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ROBUSTNESS OF THE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Qwen vs. Gemma: judge agreement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8</a:t>
            </a:r>
          </a:p>
        </p:txBody>
      </p:sp>
      <p:pic>
        <p:nvPicPr>
          <p:cNvPr id="9" name="Picture 8" descr="qwen_vs_gemma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73518"/>
            <a:ext cx="6492240" cy="3802403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269480" y="1508760"/>
          <a:ext cx="443484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143000"/>
                <a:gridCol w="1143000"/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Agreement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FFFFFF"/>
                          </a:solidFill>
                          <a:latin typeface="Calibri"/>
                        </a:rPr>
                        <a:t>Kappa</a:t>
                      </a:r>
                    </a:p>
                  </a:txBody>
                  <a:tcPr anchor="ctr" marT="50800" marB="50800">
                    <a:solidFill>
                      <a:srgbClr val="1B2A4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Cross-domain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62.3%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0.2527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Sycophancy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38.3%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0.1511</a:t>
                      </a:r>
                    </a:p>
                  </a:txBody>
                  <a:tcPr anchor="ctr" marT="38100" marB="38100">
                    <a:solidFill>
                      <a:srgbClr val="F4F6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Beneficial memory usage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0" sz="1250">
                          <a:solidFill>
                            <a:srgbClr val="1B2A41"/>
                          </a:solidFill>
                          <a:latin typeface="Calibri"/>
                        </a:rPr>
                        <a:t>66.6%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250">
                          <a:solidFill>
                            <a:srgbClr val="1B2A41"/>
                          </a:solidFill>
                          <a:latin typeface="Calibri"/>
                        </a:rPr>
                        <a:t>0.4921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7269480" y="3520440"/>
            <a:ext cx="4434840" cy="2148840"/>
          </a:xfrm>
          <a:prstGeom prst="roundRect">
            <a:avLst>
              <a:gd name="adj" fmla="val 6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77800" rIns="17780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Interpretation</a:t>
            </a:r>
          </a:p>
          <a:p>
            <a:pPr>
              <a:spcBef>
                <a:spcPts val="800"/>
              </a:spcBef>
            </a:pPr>
            <a:r>
              <a:rPr sz="1250">
                <a:solidFill>
                  <a:srgbClr val="E7ECF3"/>
                </a:solidFill>
                <a:latin typeface="Calibri"/>
              </a:rPr>
              <a:t>Agreement is fair-to-moderate (κ ≈ 0.15–0.49), and case-by-case judgments frequently differ. The general degradation signal can remain at the aggregate level while individual judgments diverge — 11/36 method×category×track comparisons even reverse direction between judges.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DOWNSTREAM CONSEQUENCE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Impact on mechanistic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9</a:t>
            </a:r>
          </a:p>
        </p:txBody>
      </p:sp>
      <p:pic>
        <p:nvPicPr>
          <p:cNvPr id="9" name="Picture 8" descr="mechanistic_transition_reclass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97478"/>
            <a:ext cx="5577840" cy="38459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0" y="1508760"/>
            <a:ext cx="52120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400" b="1">
                <a:solidFill>
                  <a:srgbClr val="2166AC"/>
                </a:solidFill>
                <a:latin typeface="Calibri"/>
              </a:rPr>
              <a:t>•  </a:t>
            </a:r>
            <a:r>
              <a:rPr sz="1400" b="1">
                <a:solidFill>
                  <a:srgbClr val="1B2A41"/>
                </a:solidFill>
                <a:latin typeface="Calibri"/>
              </a:rPr>
              <a:t>Provenance. </a:t>
            </a:r>
            <a:r>
              <a:rPr sz="1400" b="0">
                <a:solidFill>
                  <a:srgbClr val="1B2A41"/>
                </a:solidFill>
                <a:latin typeface="Calibri"/>
              </a:rPr>
              <a:t>Existing sycophancy transition groups (e.g. non-sycophantic → sycophantic) were originally defined from Qwen judgments.</a:t>
            </a:r>
          </a:p>
          <a:p>
            <a:pPr>
              <a:spcAft>
                <a:spcPts val="1200"/>
              </a:spcAft>
            </a:pPr>
            <a:r>
              <a:rPr sz="1400" b="1">
                <a:solidFill>
                  <a:srgbClr val="2166AC"/>
                </a:solidFill>
                <a:latin typeface="Calibri"/>
              </a:rPr>
              <a:t>•  </a:t>
            </a:r>
            <a:r>
              <a:rPr sz="1400" b="1">
                <a:solidFill>
                  <a:srgbClr val="1B2A41"/>
                </a:solidFill>
                <a:latin typeface="Calibri"/>
              </a:rPr>
              <a:t>Re-check. </a:t>
            </a:r>
            <a:r>
              <a:rPr sz="1400" b="0">
                <a:solidFill>
                  <a:srgbClr val="1B2A41"/>
                </a:solidFill>
                <a:latin typeface="Calibri"/>
              </a:rPr>
              <a:t>The identical 200 rows per method were re-scored with Gemma and re-bucketed.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36118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2600" b="1">
                <a:solidFill>
                  <a:srgbClr val="8E5AE8"/>
                </a:solidFill>
                <a:latin typeface="Calibri"/>
              </a:rPr>
              <a:t>130 / 200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SatImp rows change bucket (65%)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3611880"/>
            <a:ext cx="2514600" cy="114300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76200" bIns="76200"/>
          <a:lstStyle/>
          <a:p>
            <a:pPr algn="ctr"/>
            <a:r>
              <a:rPr sz="2600" b="1">
                <a:solidFill>
                  <a:srgbClr val="1E9E76"/>
                </a:solidFill>
                <a:latin typeface="Calibri"/>
              </a:rPr>
              <a:t>124 / 200</a:t>
            </a:r>
          </a:p>
          <a:p>
            <a:pPr algn="ctr">
              <a:spcBef>
                <a:spcPts val="200"/>
              </a:spcBef>
            </a:pPr>
            <a:r>
              <a:rPr sz="1200">
                <a:solidFill>
                  <a:srgbClr val="475569"/>
                </a:solidFill>
                <a:latin typeface="Calibri"/>
              </a:rPr>
              <a:t>SimNPO rows change bucket (62%)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4892040"/>
            <a:ext cx="5212080" cy="1325880"/>
          </a:xfrm>
          <a:prstGeom prst="roundRect">
            <a:avLst>
              <a:gd name="adj" fmla="val 7000"/>
            </a:avLst>
          </a:prstGeom>
          <a:solidFill>
            <a:srgbClr val="F4F6F8"/>
          </a:solidFill>
          <a:ln w="1270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tIns="127000" rIns="177800"/>
          <a:lstStyle/>
          <a:p>
            <a:pPr algn="ctr"/>
            <a:r>
              <a:rPr sz="1300" b="1">
                <a:solidFill>
                  <a:srgbClr val="1B2A41"/>
                </a:solidFill>
                <a:latin typeface="Calibri"/>
              </a:rPr>
              <a:t>Conclusion: </a:t>
            </a:r>
            <a:r>
              <a:rPr sz="1300">
                <a:solidFill>
                  <a:srgbClr val="1B2A41"/>
                </a:solidFill>
                <a:latin typeface="Calibri"/>
              </a:rPr>
              <a:t>case-level membership is judge-sensitive. These groups should be labeled “Qwen-defined transition groups,” not judge-agnostic ground truth.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166A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5603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 spc="120">
                <a:solidFill>
                  <a:srgbClr val="2166AC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1"/>
                </a:solidFill>
                <a:latin typeface="Calibri"/>
              </a:rPr>
              <a:t>Conclusion and 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207008"/>
            <a:ext cx="11183112" cy="19050"/>
          </a:xfrm>
          <a:prstGeom prst="rect">
            <a:avLst/>
          </a:prstGeom>
          <a:solidFill>
            <a:srgbClr val="D8DC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A939E"/>
                </a:solidFill>
                <a:latin typeface="Calibri"/>
              </a:rPr>
              <a:t>Independent Gemma-3-12B Judge Validation — PersistBench Privacy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0" y="6510528"/>
            <a:ext cx="548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8A939E"/>
                </a:solidFill>
                <a:latin typeface="Calibr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371600"/>
            <a:ext cx="11155680" cy="868680"/>
          </a:xfrm>
          <a:prstGeom prst="roundRect">
            <a:avLst>
              <a:gd name="adj" fmla="val 15000"/>
            </a:avLst>
          </a:prstGeom>
          <a:solidFill>
            <a:srgbClr val="1B2A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0" rIns="254000"/>
          <a:lstStyle/>
          <a:p>
            <a:pPr algn="ctr"/>
            <a:r>
              <a:rPr sz="1700" b="1" i="1">
                <a:solidFill>
                  <a:srgbClr val="FFFFFF"/>
                </a:solidFill>
                <a:latin typeface="Calibri"/>
              </a:rPr>
              <a:t>“Contextual privacy degradation survives generation-quality filtering.”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39572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743200"/>
            <a:ext cx="5486400" cy="3611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200" b="1">
                <a:solidFill>
                  <a:srgbClr val="2166AC"/>
                </a:solidFill>
                <a:latin typeface="Calibri"/>
              </a:rPr>
              <a:t>•  </a:t>
            </a:r>
            <a:r>
              <a:rPr sz="1200" b="1">
                <a:solidFill>
                  <a:srgbClr val="1B2A41"/>
                </a:solidFill>
                <a:latin typeface="Calibri"/>
              </a:rPr>
              <a:t>Inputs are shared, not regenerated. </a:t>
            </a:r>
            <a:r>
              <a:rPr sz="1200" b="0">
                <a:solidFill>
                  <a:srgbClr val="1B2A41"/>
                </a:solidFill>
                <a:latin typeface="Calibri"/>
              </a:rPr>
              <a:t>0/19,500 response-pair mismatches between the Qwen- and Gemma-scored files — only the evaluator changed.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166AC"/>
                </a:solidFill>
                <a:latin typeface="Calibri"/>
              </a:rPr>
              <a:t>•  </a:t>
            </a:r>
            <a:r>
              <a:rPr sz="1200" b="1">
                <a:solidFill>
                  <a:srgbClr val="1B2A41"/>
                </a:solidFill>
                <a:latin typeface="Calibri"/>
              </a:rPr>
              <a:t>The signal survives filtering. </a:t>
            </a:r>
            <a:r>
              <a:rPr sz="1200" b="0">
                <a:solidFill>
                  <a:srgbClr val="1B2A41"/>
                </a:solidFill>
                <a:latin typeface="Calibri"/>
              </a:rPr>
              <a:t>9/11 evaluable BASE→unlearning comparisons worsen (was 9/12 before generation-quality filtering).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166AC"/>
                </a:solidFill>
                <a:latin typeface="Calibri"/>
              </a:rPr>
              <a:t>•  </a:t>
            </a:r>
            <a:r>
              <a:rPr sz="1200" b="1">
                <a:solidFill>
                  <a:srgbClr val="1B2A41"/>
                </a:solidFill>
                <a:latin typeface="Calibri"/>
              </a:rPr>
              <a:t>All original WORSE cases remain WORSE. </a:t>
            </a:r>
            <a:r>
              <a:rPr sz="1200" b="0">
                <a:solidFill>
                  <a:srgbClr val="1B2A41"/>
                </a:solidFill>
                <a:latin typeface="Calibri"/>
              </a:rPr>
              <a:t>The other 10 comparisons shift by ≤ 0.29 percentage points once invalid generations are removed.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166AC"/>
                </a:solidFill>
                <a:latin typeface="Calibri"/>
              </a:rPr>
              <a:t>•  </a:t>
            </a:r>
            <a:r>
              <a:rPr sz="1200" b="1">
                <a:solidFill>
                  <a:srgbClr val="1B2A41"/>
                </a:solidFill>
                <a:latin typeface="Calibri"/>
              </a:rPr>
              <a:t>The one large apparent improvement was not a privacy improvement. </a:t>
            </a:r>
            <a:r>
              <a:rPr sz="1200" b="0">
                <a:solidFill>
                  <a:srgbClr val="1B2A41"/>
                </a:solidFill>
                <a:latin typeface="Calibri"/>
              </a:rPr>
              <a:t>MUSE-Books/Llama-2/WGA (0/200 valid) is a generation-collapse measurement failure, now excluded rather than counted as evidence.</a:t>
            </a:r>
          </a:p>
          <a:p>
            <a:pPr>
              <a:spcAft>
                <a:spcPts val="700"/>
              </a:spcAft>
            </a:pPr>
            <a:r>
              <a:rPr sz="1200" b="1">
                <a:solidFill>
                  <a:srgbClr val="2166AC"/>
                </a:solidFill>
                <a:latin typeface="Calibri"/>
              </a:rPr>
              <a:t>•  </a:t>
            </a:r>
            <a:r>
              <a:rPr sz="1200" b="1">
                <a:solidFill>
                  <a:srgbClr val="1B2A41"/>
                </a:solidFill>
                <a:latin typeface="Calibri"/>
              </a:rPr>
              <a:t>Evaluation-model dependence remains. </a:t>
            </a:r>
            <a:r>
              <a:rPr sz="1200" b="0">
                <a:solidFill>
                  <a:srgbClr val="1B2A41"/>
                </a:solidFill>
                <a:latin typeface="Calibri"/>
              </a:rPr>
              <a:t>Qwen–Gemma agreement is only fair-to-moderate (κ = 0.15–0.49 by category); 62–65% of mechanistic transition-group labels change under Gemma.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95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B2A41"/>
                </a:solidFill>
                <a:latin typeface="Calibri"/>
              </a:rPr>
              <a:t>Next steps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743200"/>
            <a:ext cx="53035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•  </a:t>
            </a:r>
            <a:r>
              <a:rPr sz="1250" b="1">
                <a:solidFill>
                  <a:srgbClr val="1B2A41"/>
                </a:solidFill>
                <a:latin typeface="Calibri"/>
              </a:rPr>
              <a:t>Analyze disagreement cases </a:t>
            </a:r>
            <a:r>
              <a:rPr sz="1250" b="0">
                <a:solidFill>
                  <a:srgbClr val="1B2A41"/>
                </a:solidFill>
                <a:latin typeface="Calibri"/>
              </a:rPr>
              <a:t>between Qwen and Gemma in a stratified sample.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•  </a:t>
            </a:r>
            <a:r>
              <a:rPr sz="1250" b="1">
                <a:solidFill>
                  <a:srgbClr val="1B2A41"/>
                </a:solidFill>
                <a:latin typeface="Calibri"/>
              </a:rPr>
              <a:t>Add a third judge or human validation </a:t>
            </a:r>
            <a:r>
              <a:rPr sz="1250" b="0">
                <a:solidFill>
                  <a:srgbClr val="1B2A41"/>
                </a:solidFill>
                <a:latin typeface="Calibri"/>
              </a:rPr>
              <a:t>to adjudicate contested cases.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•  </a:t>
            </a:r>
            <a:r>
              <a:rPr sz="1250" b="1">
                <a:solidFill>
                  <a:srgbClr val="1B2A41"/>
                </a:solidFill>
                <a:latin typeface="Calibri"/>
              </a:rPr>
              <a:t>Repeat mechanistic grouping </a:t>
            </a:r>
            <a:r>
              <a:rPr sz="1250" b="0">
                <a:solidFill>
                  <a:srgbClr val="1B2A41"/>
                </a:solidFill>
                <a:latin typeface="Calibri"/>
              </a:rPr>
              <a:t>using Gemma-defined or consensus-defined transition criteria before drawing judge-independent conclusions.</a:t>
            </a:r>
          </a:p>
          <a:p>
            <a:pPr>
              <a:spcAft>
                <a:spcPts val="800"/>
              </a:spcAft>
            </a:pPr>
            <a:r>
              <a:rPr sz="1250" b="1">
                <a:solidFill>
                  <a:srgbClr val="1E8E5A"/>
                </a:solidFill>
                <a:latin typeface="Calibri"/>
              </a:rPr>
              <a:t>•  </a:t>
            </a:r>
            <a:r>
              <a:rPr sz="1250" b="1">
                <a:solidFill>
                  <a:srgbClr val="1B2A41"/>
                </a:solidFill>
                <a:latin typeface="Calibri"/>
              </a:rPr>
              <a:t>Apply the same valid-only filtering to Qwen's results </a:t>
            </a:r>
            <a:r>
              <a:rPr sz="1250" b="0">
                <a:solidFill>
                  <a:srgbClr val="1B2A41"/>
                </a:solidFill>
                <a:latin typeface="Calibri"/>
              </a:rPr>
              <a:t>for a fully like-for-like judge comparison (only Gemma's side is valid-filtered so far).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212080"/>
            <a:ext cx="5303520" cy="1051560"/>
          </a:xfrm>
          <a:prstGeom prst="roundRect">
            <a:avLst>
              <a:gd name="adj" fmla="val 8000"/>
            </a:avLst>
          </a:prstGeom>
          <a:solidFill>
            <a:srgbClr val="F4F6F8"/>
          </a:solidFill>
          <a:ln w="9525">
            <a:solidFill>
              <a:srgbClr val="D8DC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101600" rIns="152400"/>
          <a:lstStyle/>
          <a:p>
            <a:pPr algn="ctr"/>
            <a:r>
              <a:rPr sz="1050" b="1">
                <a:solidFill>
                  <a:srgbClr val="475569"/>
                </a:solidFill>
                <a:latin typeface="Calibri"/>
              </a:rPr>
              <a:t>Limitation: </a:t>
            </a:r>
            <a:r>
              <a:rPr sz="1050">
                <a:solidFill>
                  <a:srgbClr val="475569"/>
                </a:solidFill>
                <a:latin typeface="Calibri"/>
              </a:rPr>
              <a:t>Neither judge is ground truth. Valid-only filtering here covers cross-domain FR@1 only (sycophancy/beneficial-memory not recomputed). Only 3 dataset/model tracks and 4 methods are represented; McNemar p-values are not multiple-comparison adjusted.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